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sldIdLst>
    <p:sldId id="291" r:id="rId5"/>
    <p:sldId id="281" r:id="rId6"/>
    <p:sldId id="290" r:id="rId7"/>
    <p:sldId id="293" r:id="rId8"/>
    <p:sldId id="298" r:id="rId9"/>
    <p:sldId id="299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ECA50-148A-4473-98A1-237C15FC5CCF}" v="90" dt="2025-09-02T17:42:52.241"/>
    <p1510:client id="{BB53E484-01CF-62D6-5D77-BE1EA8BD4B76}" v="52" dt="2025-09-02T17:20:24.193"/>
    <p1510:client id="{D2CB16A2-A04F-4D8B-A24A-DD9BF32B0253}" v="13" dt="2025-09-02T11:01:11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15A6-C358-8AB1-EF21-9862CE55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F73006B0-1A4F-5295-5177-04FA37F66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E5BACB6-0688-4E1D-AB5E-87647741D6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E2AAE1B-C752-AA39-371D-B916AC663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805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62FAF-DE9E-CD44-8D95-811D1C0B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9C5182A-E44C-CED4-CA45-A8AA3CD0F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6B2F947-2630-41FD-9888-A41596EDB9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DB8DFA9C-F7D5-AEC5-CC95-9332DD8DA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34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709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–25031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Crowdsourced Civic Issue</a:t>
            </a:r>
          </a:p>
          <a:p>
            <a:pPr algn="just">
              <a:lnSpc>
                <a:spcPct val="20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	and Reporting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Clean and Green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Team Name-</a:t>
            </a:r>
            <a:r>
              <a:rPr lang="en-US" sz="1600" b="1" dirty="0">
                <a:latin typeface="Calibri"/>
                <a:ea typeface="Calibri"/>
                <a:cs typeface="Calibri"/>
              </a:rPr>
              <a:t>Idea Troopers</a:t>
            </a:r>
            <a:endParaRPr lang="en-IN" sz="1600" b="1" dirty="0">
              <a:latin typeface="Arial"/>
              <a:ea typeface="ＭＳ Ｐゴシック"/>
              <a:cs typeface="Arial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DDD54F-0CF2-E96D-A911-0CB9BCC34DDF}"/>
              </a:ext>
            </a:extLst>
          </p:cNvPr>
          <p:cNvSpPr/>
          <p:nvPr/>
        </p:nvSpPr>
        <p:spPr>
          <a:xfrm>
            <a:off x="4283418" y="1354957"/>
            <a:ext cx="3568782" cy="48248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CF52A-ED7C-0F16-ACB5-78C2E28C5DEF}"/>
              </a:ext>
            </a:extLst>
          </p:cNvPr>
          <p:cNvSpPr/>
          <p:nvPr/>
        </p:nvSpPr>
        <p:spPr>
          <a:xfrm>
            <a:off x="78658" y="1311826"/>
            <a:ext cx="3568782" cy="48248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IDEA </a:t>
            </a:r>
          </a:p>
          <a:p>
            <a:pPr algn="ctr"/>
            <a:r>
              <a:rPr lang="en-US" sz="1200" b="1"/>
              <a:t>TROOPERS</a:t>
            </a:r>
            <a:endParaRPr lang="en-IN" sz="1200" b="1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CFFF1F-6203-70EF-CAEB-0C6824A8A378}"/>
              </a:ext>
            </a:extLst>
          </p:cNvPr>
          <p:cNvSpPr txBox="1"/>
          <p:nvPr/>
        </p:nvSpPr>
        <p:spPr>
          <a:xfrm>
            <a:off x="4276944" y="1354957"/>
            <a:ext cx="36034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PROPOSED SOLUTION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</a:t>
            </a:r>
            <a:r>
              <a:rPr lang="en-US" b="1"/>
              <a:t>crowdsourced mobile platform</a:t>
            </a:r>
            <a:r>
              <a:rPr lang="en-US"/>
              <a:t> that empowers citizens to report civic issues (potholes, garbage, streetlights, etc.) with </a:t>
            </a:r>
            <a:r>
              <a:rPr lang="en-US" b="1"/>
              <a:t>photo, geotag, and voice/text inputs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</a:t>
            </a:r>
            <a:r>
              <a:rPr lang="en-US" b="1"/>
              <a:t>real-time issue resolution dashboard</a:t>
            </a:r>
            <a:r>
              <a:rPr lang="en-US"/>
              <a:t> for municipal staff with automated </a:t>
            </a:r>
            <a:r>
              <a:rPr lang="en-US" b="1"/>
              <a:t>department routing, live maps, and status tracking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Built for </a:t>
            </a:r>
            <a:r>
              <a:rPr lang="en-US" b="1"/>
              <a:t>scalability</a:t>
            </a:r>
            <a:r>
              <a:rPr lang="en-US"/>
              <a:t>, ensuring smooth performance even during spikes in issue reporting.</a:t>
            </a:r>
            <a:endParaRPr lang="en-US">
              <a:solidFill>
                <a:schemeClr val="accent1"/>
              </a:solidFill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111B0B-5C96-E6AA-E74E-73DE058BE9E7}"/>
              </a:ext>
            </a:extLst>
          </p:cNvPr>
          <p:cNvSpPr/>
          <p:nvPr/>
        </p:nvSpPr>
        <p:spPr>
          <a:xfrm>
            <a:off x="8481704" y="1336474"/>
            <a:ext cx="3568782" cy="48248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0DF7B0-F359-FC23-38D7-9AB27C89E67B}"/>
              </a:ext>
            </a:extLst>
          </p:cNvPr>
          <p:cNvSpPr txBox="1"/>
          <p:nvPr/>
        </p:nvSpPr>
        <p:spPr>
          <a:xfrm>
            <a:off x="78658" y="1253054"/>
            <a:ext cx="3603446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Problem Context :</a:t>
            </a:r>
          </a:p>
          <a:p>
            <a:r>
              <a:rPr lang="en-US"/>
              <a:t>Citizens often face </a:t>
            </a:r>
            <a:r>
              <a:rPr lang="en-US" b="1"/>
              <a:t>potholes, garbage overflow, and faulty streetlights</a:t>
            </a:r>
            <a:r>
              <a:rPr lang="en-US"/>
              <a:t>, but issues remain unresolved.</a:t>
            </a:r>
            <a:br>
              <a:rPr lang="en-US"/>
            </a:br>
            <a:r>
              <a:rPr lang="en-US"/>
              <a:t>Existing reporting systems are </a:t>
            </a:r>
            <a:r>
              <a:rPr lang="en-US" b="1"/>
              <a:t>slow, fragmented, and lack real-time transparency</a:t>
            </a:r>
            <a:r>
              <a:rPr lang="en-US"/>
              <a:t>.</a:t>
            </a:r>
            <a:br>
              <a:rPr lang="en-US"/>
            </a:br>
            <a:r>
              <a:rPr lang="en-US"/>
              <a:t>Municipal staff struggle with </a:t>
            </a:r>
            <a:r>
              <a:rPr lang="en-US" b="1"/>
              <a:t>manual routing, poor prioritization, and delayed responses</a:t>
            </a:r>
            <a:r>
              <a:rPr lang="en-US"/>
              <a:t>.</a:t>
            </a:r>
          </a:p>
          <a:p>
            <a:r>
              <a:rPr lang="en-US"/>
              <a:t>This leads to </a:t>
            </a:r>
            <a:r>
              <a:rPr lang="en-US" b="1"/>
              <a:t>urban decay, weak accountability, and declining citizen trust</a:t>
            </a:r>
            <a:r>
              <a:rPr lang="en-US"/>
              <a:t> in governance.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DD551D-0F51-B055-91CC-9117A559E65B}"/>
              </a:ext>
            </a:extLst>
          </p:cNvPr>
          <p:cNvSpPr txBox="1"/>
          <p:nvPr/>
        </p:nvSpPr>
        <p:spPr>
          <a:xfrm>
            <a:off x="8475230" y="1354957"/>
            <a:ext cx="36034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Innovation and Uniqueness :</a:t>
            </a:r>
          </a:p>
          <a:p>
            <a:r>
              <a:rPr lang="en-US" b="1"/>
              <a:t>AI/ML-powered categorization and smart routing</a:t>
            </a:r>
            <a:r>
              <a:rPr lang="en-US"/>
              <a:t> of reported issues.</a:t>
            </a:r>
          </a:p>
          <a:p>
            <a:r>
              <a:rPr lang="en-US" b="1"/>
              <a:t>Crowdsourced, geotagged multimedia inputs</a:t>
            </a:r>
            <a:r>
              <a:rPr lang="en-US"/>
              <a:t> for accuracy and real-world context.</a:t>
            </a:r>
          </a:p>
          <a:p>
            <a:r>
              <a:rPr lang="en-US" b="1"/>
              <a:t>Gamification features</a:t>
            </a:r>
            <a:r>
              <a:rPr lang="en-US"/>
              <a:t> to boost citizen participation and engagement.</a:t>
            </a:r>
          </a:p>
          <a:p>
            <a:r>
              <a:rPr lang="en-US" b="1"/>
              <a:t>Analytics-driven dashboard</a:t>
            </a:r>
            <a:r>
              <a:rPr lang="en-US"/>
              <a:t> for trends, response time, and departmental performance.</a:t>
            </a:r>
          </a:p>
          <a:p>
            <a:r>
              <a:rPr lang="en-US" b="1"/>
              <a:t>API-ready, scalable architecture</a:t>
            </a:r>
            <a:r>
              <a:rPr lang="en-US"/>
              <a:t> for integration with Smart City and e-Governance platforms.</a:t>
            </a:r>
          </a:p>
          <a:p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E24909-F335-43B3-5432-B0F85EE5007F}"/>
              </a:ext>
            </a:extLst>
          </p:cNvPr>
          <p:cNvSpPr/>
          <p:nvPr/>
        </p:nvSpPr>
        <p:spPr>
          <a:xfrm>
            <a:off x="197693" y="1280160"/>
            <a:ext cx="4318427" cy="49380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5DD29-6950-E61C-3BE8-DA1142513DAC}"/>
              </a:ext>
            </a:extLst>
          </p:cNvPr>
          <p:cNvSpPr txBox="1"/>
          <p:nvPr/>
        </p:nvSpPr>
        <p:spPr>
          <a:xfrm>
            <a:off x="197693" y="1244365"/>
            <a:ext cx="4318427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0" b="1" dirty="0"/>
              <a:t>Title- System Architecture &amp; Workflow Content</a:t>
            </a:r>
            <a:r>
              <a:rPr lang="en-IN" sz="1750" b="1" dirty="0"/>
              <a:t>:</a:t>
            </a:r>
          </a:p>
          <a:p>
            <a:r>
              <a:rPr lang="en-IN" sz="1750" dirty="0"/>
              <a:t>A high-level architecture diagram showcasing key components:</a:t>
            </a:r>
          </a:p>
          <a:p>
            <a:r>
              <a:rPr lang="en-IN" sz="1750" b="1" dirty="0"/>
              <a:t>Frontend (Citizen App)</a:t>
            </a:r>
            <a:r>
              <a:rPr lang="en-IN" sz="1750" dirty="0"/>
              <a:t> – Report issues with </a:t>
            </a:r>
            <a:r>
              <a:rPr lang="en-IN" sz="1750" b="1" dirty="0"/>
              <a:t>photo, geotag, text/voice</a:t>
            </a:r>
            <a:r>
              <a:rPr lang="en-IN" sz="1750" dirty="0"/>
              <a:t>, track status, get notifications.</a:t>
            </a:r>
          </a:p>
          <a:p>
            <a:r>
              <a:rPr lang="en-IN" sz="1750" b="1" dirty="0"/>
              <a:t>Frontend (Admin Dashboard)</a:t>
            </a:r>
            <a:r>
              <a:rPr lang="en-IN" sz="1750" dirty="0"/>
              <a:t> – </a:t>
            </a:r>
            <a:r>
              <a:rPr lang="en-IN" sz="1750" b="1" dirty="0"/>
              <a:t>Live maps, issue filtering, task assignment, and status updates</a:t>
            </a:r>
            <a:r>
              <a:rPr lang="en-IN" sz="1750" dirty="0"/>
              <a:t>.</a:t>
            </a:r>
          </a:p>
          <a:p>
            <a:r>
              <a:rPr lang="en-IN" sz="1750" b="1" dirty="0"/>
              <a:t>Backend</a:t>
            </a:r>
            <a:r>
              <a:rPr lang="en-IN" sz="1750" dirty="0"/>
              <a:t> – </a:t>
            </a:r>
            <a:r>
              <a:rPr lang="en-IN" sz="1750" b="1" dirty="0"/>
              <a:t>Server + AI/ML engine</a:t>
            </a:r>
            <a:r>
              <a:rPr lang="en-IN" sz="1750" dirty="0"/>
              <a:t> for categorization, prioritization, and automated routing.</a:t>
            </a:r>
          </a:p>
          <a:p>
            <a:r>
              <a:rPr lang="en-IN" sz="1750" b="1" dirty="0"/>
              <a:t>Database &amp; Storage</a:t>
            </a:r>
            <a:r>
              <a:rPr lang="en-IN" sz="1750" dirty="0"/>
              <a:t> – </a:t>
            </a:r>
            <a:r>
              <a:rPr lang="en-IN" sz="1750" b="1" dirty="0"/>
              <a:t>SQL DB</a:t>
            </a:r>
            <a:r>
              <a:rPr lang="en-IN" sz="1750" dirty="0"/>
              <a:t> for reports/users + </a:t>
            </a:r>
            <a:r>
              <a:rPr lang="en-IN" sz="1750" b="1" dirty="0"/>
              <a:t>Cloud/NoSQL</a:t>
            </a:r>
            <a:r>
              <a:rPr lang="en-IN" sz="1750" dirty="0"/>
              <a:t> for images and media.</a:t>
            </a:r>
          </a:p>
          <a:p>
            <a:r>
              <a:rPr lang="en-IN" sz="1750" b="1" dirty="0"/>
              <a:t>Integration &amp; Analytics</a:t>
            </a:r>
            <a:r>
              <a:rPr lang="en-IN" sz="1750" dirty="0"/>
              <a:t> – </a:t>
            </a:r>
            <a:r>
              <a:rPr lang="en-IN" sz="1750" b="1" dirty="0"/>
              <a:t>APIs</a:t>
            </a:r>
            <a:r>
              <a:rPr lang="en-IN" sz="1750" dirty="0"/>
              <a:t> for Smart City systems + </a:t>
            </a:r>
            <a:r>
              <a:rPr lang="en-IN" sz="1750" b="1" dirty="0"/>
              <a:t>reports on trends &amp; response time</a:t>
            </a:r>
            <a:endParaRPr lang="en-IN" sz="1750" dirty="0"/>
          </a:p>
          <a:p>
            <a:endParaRPr lang="en-IN" sz="1600" dirty="0"/>
          </a:p>
          <a:p>
            <a:endParaRPr lang="en-IN" sz="1400" dirty="0"/>
          </a:p>
          <a:p>
            <a:pPr algn="ctr"/>
            <a:r>
              <a:rPr lang="en-IN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CCD82-3563-3CE4-6C16-C2273942A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1" y="1200097"/>
            <a:ext cx="7402286" cy="4938080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CD5DE89D-FFE2-4E67-7F5F-B8B068D03B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IDEA </a:t>
            </a:r>
          </a:p>
          <a:p>
            <a:pPr algn="ctr"/>
            <a:r>
              <a:rPr lang="en-US" sz="1200" b="1"/>
              <a:t>TROOPERS</a:t>
            </a:r>
            <a:endParaRPr lang="en-IN"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779183-E926-449B-2255-C300D1902A26}"/>
              </a:ext>
            </a:extLst>
          </p:cNvPr>
          <p:cNvSpPr/>
          <p:nvPr/>
        </p:nvSpPr>
        <p:spPr>
          <a:xfrm>
            <a:off x="609600" y="1516697"/>
            <a:ext cx="4775200" cy="2304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C4A9B-D5B4-092D-40F4-F17FBD59788A}"/>
              </a:ext>
            </a:extLst>
          </p:cNvPr>
          <p:cNvSpPr/>
          <p:nvPr/>
        </p:nvSpPr>
        <p:spPr>
          <a:xfrm>
            <a:off x="6695432" y="4000499"/>
            <a:ext cx="4775202" cy="22177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1596C0-6510-52FF-6E82-3162F0117EA1}"/>
              </a:ext>
            </a:extLst>
          </p:cNvPr>
          <p:cNvSpPr/>
          <p:nvPr/>
        </p:nvSpPr>
        <p:spPr>
          <a:xfrm>
            <a:off x="6695433" y="1491713"/>
            <a:ext cx="4775208" cy="219703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91EED8-0B5D-D5F9-66A8-D4FACF1BB915}"/>
              </a:ext>
            </a:extLst>
          </p:cNvPr>
          <p:cNvSpPr/>
          <p:nvPr/>
        </p:nvSpPr>
        <p:spPr>
          <a:xfrm>
            <a:off x="609600" y="4033360"/>
            <a:ext cx="4775200" cy="2184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A4155-4656-3038-7DB0-6F81B076EC02}"/>
              </a:ext>
            </a:extLst>
          </p:cNvPr>
          <p:cNvSpPr txBox="1"/>
          <p:nvPr/>
        </p:nvSpPr>
        <p:spPr>
          <a:xfrm>
            <a:off x="609598" y="1616113"/>
            <a:ext cx="43184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Technical Feasibility:</a:t>
            </a:r>
          </a:p>
          <a:p>
            <a:r>
              <a:rPr lang="en-US" dirty="0"/>
              <a:t>Developed using proven technologies(</a:t>
            </a:r>
            <a:r>
              <a:rPr lang="en-IN" dirty="0"/>
              <a:t>(React Native/Flutter, Node.js/Spring Boot, SQL/Cloud DB).</a:t>
            </a:r>
          </a:p>
          <a:p>
            <a:r>
              <a:rPr lang="en-US" b="1" dirty="0"/>
              <a:t>Cloud-based architecture</a:t>
            </a:r>
            <a:r>
              <a:rPr lang="en-US" dirty="0"/>
              <a:t> ensures scalability during high reporting loads.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C9EB35-7255-EE46-D5B6-25D61D37D5E1}"/>
              </a:ext>
            </a:extLst>
          </p:cNvPr>
          <p:cNvSpPr txBox="1"/>
          <p:nvPr/>
        </p:nvSpPr>
        <p:spPr>
          <a:xfrm>
            <a:off x="6770168" y="1608653"/>
            <a:ext cx="41757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Operational Feasibility: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/>
              <a:t>Simple citizen app </a:t>
            </a:r>
            <a:r>
              <a:rPr lang="en-US" dirty="0"/>
              <a:t>for reporting &amp; tracking issues.</a:t>
            </a:r>
            <a:r>
              <a:rPr lang="en-US" b="1" dirty="0"/>
              <a:t> Admin dashboard</a:t>
            </a:r>
            <a:r>
              <a:rPr lang="en-US" dirty="0"/>
              <a:t> streamlines categorization, task assignment, and monitoring.</a:t>
            </a:r>
            <a:r>
              <a:rPr lang="en-US" b="1" dirty="0"/>
              <a:t> Phased deployment</a:t>
            </a:r>
            <a:r>
              <a:rPr lang="en-US" dirty="0"/>
              <a:t> possible (ward → city → state level).</a:t>
            </a:r>
            <a:endParaRPr lang="en-US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E572AD-1C0F-017F-AFB2-769658736268}"/>
              </a:ext>
            </a:extLst>
          </p:cNvPr>
          <p:cNvSpPr txBox="1"/>
          <p:nvPr/>
        </p:nvSpPr>
        <p:spPr>
          <a:xfrm>
            <a:off x="609597" y="4100430"/>
            <a:ext cx="4318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Challenges and Risk: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/>
              <a:t>Accurate </a:t>
            </a:r>
            <a:r>
              <a:rPr lang="en-US" dirty="0"/>
              <a:t> issue categorization. Managing large volumes of images/media.</a:t>
            </a:r>
            <a:r>
              <a:rPr lang="en-IN" dirty="0"/>
              <a:t> Ensuring active citizen participation.</a:t>
            </a:r>
            <a:endParaRPr lang="en-US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1E422C-7C03-F703-D0C3-6CBDB71B643D}"/>
              </a:ext>
            </a:extLst>
          </p:cNvPr>
          <p:cNvSpPr txBox="1"/>
          <p:nvPr/>
        </p:nvSpPr>
        <p:spPr>
          <a:xfrm>
            <a:off x="6770168" y="4112776"/>
            <a:ext cx="43184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Mitigation strategies: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IN" b="1" dirty="0"/>
              <a:t>AI/ML + admin verification</a:t>
            </a:r>
            <a:r>
              <a:rPr lang="en-IN" dirty="0"/>
              <a:t> for classification.</a:t>
            </a:r>
            <a:r>
              <a:rPr lang="en-IN" b="1" dirty="0"/>
              <a:t> Cloud auto-scaling &amp; storage optimization</a:t>
            </a:r>
            <a:r>
              <a:rPr lang="en-IN" dirty="0"/>
              <a:t>.</a:t>
            </a:r>
            <a:r>
              <a:rPr lang="en-US" b="1" dirty="0"/>
              <a:t> Gamification &amp; awareness campaigns</a:t>
            </a:r>
            <a:r>
              <a:rPr lang="en-US" dirty="0"/>
              <a:t> for user engagement.</a:t>
            </a:r>
            <a:endParaRPr lang="en-US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E120D7A-3D96-9D92-C73F-AE0C3493FB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IDEA </a:t>
            </a:r>
          </a:p>
          <a:p>
            <a:pPr algn="ctr"/>
            <a:r>
              <a:rPr lang="en-US" sz="1200" b="1"/>
              <a:t>TROOPERS</a:t>
            </a:r>
            <a:endParaRPr lang="en-IN" sz="1200" b="1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7547F-CFC4-69C4-5046-AFEAAF4D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C32EF2-3FA7-084E-9008-0ABEEA3B7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77ADCEE-3996-F73E-7FED-7446894B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7FB22-1724-7921-94E9-6B6CC30C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05DF6E-1583-247B-24A6-828836EB8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A9DCFD12-C788-64D5-2253-C60D10673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C6A8351-DC51-409E-4B3A-9291BCD4DAD9}"/>
              </a:ext>
            </a:extLst>
          </p:cNvPr>
          <p:cNvSpPr/>
          <p:nvPr/>
        </p:nvSpPr>
        <p:spPr>
          <a:xfrm>
            <a:off x="609600" y="1516696"/>
            <a:ext cx="4908698" cy="20837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1455CB-72C9-A0D2-C2D1-501DF8EE2549}"/>
              </a:ext>
            </a:extLst>
          </p:cNvPr>
          <p:cNvSpPr/>
          <p:nvPr/>
        </p:nvSpPr>
        <p:spPr>
          <a:xfrm>
            <a:off x="6464596" y="4081621"/>
            <a:ext cx="5006042" cy="20624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694F1D-EECA-58F5-6F06-9227B83EE1EC}"/>
              </a:ext>
            </a:extLst>
          </p:cNvPr>
          <p:cNvSpPr/>
          <p:nvPr/>
        </p:nvSpPr>
        <p:spPr>
          <a:xfrm>
            <a:off x="6464597" y="1516696"/>
            <a:ext cx="5006044" cy="21728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6F6C9-25AE-3736-CEE3-B3749ED1A03B}"/>
              </a:ext>
            </a:extLst>
          </p:cNvPr>
          <p:cNvSpPr/>
          <p:nvPr/>
        </p:nvSpPr>
        <p:spPr>
          <a:xfrm>
            <a:off x="609600" y="4033359"/>
            <a:ext cx="4908698" cy="21107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DDE5A1-D456-68ED-34C2-B9208480495F}"/>
              </a:ext>
            </a:extLst>
          </p:cNvPr>
          <p:cNvSpPr txBox="1"/>
          <p:nvPr/>
        </p:nvSpPr>
        <p:spPr>
          <a:xfrm>
            <a:off x="609598" y="1616113"/>
            <a:ext cx="4536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Impact on Citizens :</a:t>
            </a:r>
          </a:p>
          <a:p>
            <a:r>
              <a:rPr lang="en-US" dirty="0"/>
              <a:t>Faster resolution of civic issues with </a:t>
            </a:r>
            <a:r>
              <a:rPr lang="en-US" b="1" dirty="0"/>
              <a:t>real-time status tracking</a:t>
            </a:r>
            <a:r>
              <a:rPr lang="en-US" dirty="0"/>
              <a:t>. Increased </a:t>
            </a:r>
            <a:r>
              <a:rPr lang="en-US" b="1" dirty="0"/>
              <a:t>trust in governance</a:t>
            </a:r>
            <a:r>
              <a:rPr lang="en-US" dirty="0"/>
              <a:t> through transparency and accountability.</a:t>
            </a:r>
            <a:endParaRPr lang="en-US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788EB0-A3C1-7B97-E709-CFC69EBEF4DD}"/>
              </a:ext>
            </a:extLst>
          </p:cNvPr>
          <p:cNvSpPr txBox="1"/>
          <p:nvPr/>
        </p:nvSpPr>
        <p:spPr>
          <a:xfrm>
            <a:off x="6578386" y="1567588"/>
            <a:ext cx="4318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Impact on Government 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/>
              <a:t>Centralized dashboard</a:t>
            </a:r>
            <a:r>
              <a:rPr lang="en-US" dirty="0"/>
              <a:t> improves efficiency and resource management.</a:t>
            </a:r>
            <a:r>
              <a:rPr lang="en-US" b="1" dirty="0"/>
              <a:t> Data-driven insights</a:t>
            </a:r>
            <a:r>
              <a:rPr lang="en-US" dirty="0"/>
              <a:t> help prioritize issues and improve response times.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369A2E-3742-BDAF-969D-FA07076B069F}"/>
              </a:ext>
            </a:extLst>
          </p:cNvPr>
          <p:cNvSpPr txBox="1"/>
          <p:nvPr/>
        </p:nvSpPr>
        <p:spPr>
          <a:xfrm>
            <a:off x="609597" y="4100430"/>
            <a:ext cx="45365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Social Benefits 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/>
              <a:t>Encourages </a:t>
            </a:r>
            <a:r>
              <a:rPr lang="en-US" b="1" dirty="0"/>
              <a:t>citizen participation</a:t>
            </a:r>
            <a:r>
              <a:rPr lang="en-US" dirty="0"/>
              <a:t> and strengthens community–government collaboration. Creates cleaner, safer, and more livable urban spaces.</a:t>
            </a:r>
            <a:endParaRPr lang="en-US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A6EA05-710B-ACF9-E2DF-F0D5342F7B9A}"/>
              </a:ext>
            </a:extLst>
          </p:cNvPr>
          <p:cNvSpPr txBox="1"/>
          <p:nvPr/>
        </p:nvSpPr>
        <p:spPr>
          <a:xfrm>
            <a:off x="6627499" y="4112776"/>
            <a:ext cx="4318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Economic &amp; Environmental Benefits 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/>
              <a:t>Optimized resource allocation reduces </a:t>
            </a:r>
            <a:r>
              <a:rPr lang="en-US" b="1" dirty="0"/>
              <a:t>operational costs</a:t>
            </a:r>
            <a:r>
              <a:rPr lang="en-US" dirty="0"/>
              <a:t> for municipalities.</a:t>
            </a:r>
            <a:r>
              <a:rPr lang="en-US" b="1" dirty="0"/>
              <a:t> Cleaner environment</a:t>
            </a:r>
            <a:r>
              <a:rPr lang="en-US" dirty="0"/>
              <a:t> through timely waste management and infrastructure upkeep.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F0972078-360E-A4A7-2023-A4E7FC8F84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IDEA </a:t>
            </a:r>
          </a:p>
          <a:p>
            <a:pPr algn="ctr"/>
            <a:r>
              <a:rPr lang="en-US" sz="1200" b="1"/>
              <a:t>TROOPERS</a:t>
            </a:r>
            <a:endParaRPr lang="en-IN" sz="1200" b="1"/>
          </a:p>
        </p:txBody>
      </p:sp>
    </p:spTree>
    <p:extLst>
      <p:ext uri="{BB962C8B-B14F-4D97-AF65-F5344CB8AC3E}">
        <p14:creationId xmlns:p14="http://schemas.microsoft.com/office/powerpoint/2010/main" val="3084979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7F51-7D8C-AD55-A9B4-4FBA5500C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15E366-E888-83B7-DA5D-FF5A60929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67B1C7D-5E17-DB8A-57E5-DC270E4E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</a:t>
            </a: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References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CD3F0-823E-AC4E-30B0-4D661D3D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AB30DC-745A-242E-6FF0-BFCACF4D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B6072F50-1F88-FCC0-EDF1-EE7722204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0AC710-A58D-FF51-2A2B-A16C49FD9635}"/>
              </a:ext>
            </a:extLst>
          </p:cNvPr>
          <p:cNvSpPr/>
          <p:nvPr/>
        </p:nvSpPr>
        <p:spPr>
          <a:xfrm>
            <a:off x="609600" y="1516696"/>
            <a:ext cx="4908698" cy="20837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FFC958-7E4E-707B-C87F-AFD608F8A683}"/>
              </a:ext>
            </a:extLst>
          </p:cNvPr>
          <p:cNvSpPr/>
          <p:nvPr/>
        </p:nvSpPr>
        <p:spPr>
          <a:xfrm>
            <a:off x="6464596" y="4081621"/>
            <a:ext cx="5006042" cy="20624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851DE9-4D5A-D1F4-F0E3-42C9ACAEB5F2}"/>
              </a:ext>
            </a:extLst>
          </p:cNvPr>
          <p:cNvSpPr/>
          <p:nvPr/>
        </p:nvSpPr>
        <p:spPr>
          <a:xfrm>
            <a:off x="6464597" y="1516696"/>
            <a:ext cx="5006044" cy="21728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0FDC9-2CE8-CBFF-A588-6B9787EBB801}"/>
              </a:ext>
            </a:extLst>
          </p:cNvPr>
          <p:cNvSpPr/>
          <p:nvPr/>
        </p:nvSpPr>
        <p:spPr>
          <a:xfrm>
            <a:off x="609600" y="4033359"/>
            <a:ext cx="4908698" cy="21107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7A3BA-D799-641B-EE09-56FA8A4D111A}"/>
              </a:ext>
            </a:extLst>
          </p:cNvPr>
          <p:cNvSpPr txBox="1"/>
          <p:nvPr/>
        </p:nvSpPr>
        <p:spPr>
          <a:xfrm>
            <a:off x="609598" y="1616113"/>
            <a:ext cx="4536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Existing Platforms :</a:t>
            </a:r>
          </a:p>
          <a:p>
            <a:r>
              <a:rPr lang="en-IN" dirty="0" err="1"/>
              <a:t>FixMyStreet</a:t>
            </a:r>
            <a:r>
              <a:rPr lang="en-IN" dirty="0"/>
              <a:t>(UK): crowdsourced civic issue reporting.</a:t>
            </a:r>
          </a:p>
          <a:p>
            <a:r>
              <a:rPr lang="en-IN" i="1" dirty="0"/>
              <a:t>Swachh Bharat App (India)</a:t>
            </a:r>
            <a:r>
              <a:rPr lang="en-IN" dirty="0"/>
              <a:t> – waste management complaints.</a:t>
            </a:r>
          </a:p>
          <a:p>
            <a:r>
              <a:rPr lang="en-US" i="1" dirty="0"/>
              <a:t>Smart City Dashboards</a:t>
            </a:r>
            <a:r>
              <a:rPr lang="en-US" dirty="0"/>
              <a:t> – urban monitoring and service tracking.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D4D0BD-9AC4-2029-5BCD-47F4D1D27D57}"/>
              </a:ext>
            </a:extLst>
          </p:cNvPr>
          <p:cNvSpPr txBox="1"/>
          <p:nvPr/>
        </p:nvSpPr>
        <p:spPr>
          <a:xfrm>
            <a:off x="6578386" y="1567588"/>
            <a:ext cx="4318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Government and Policy Reports 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/>
              <a:t>Ministry of Housing &amp; Urban Affairs (</a:t>
            </a:r>
            <a:r>
              <a:rPr lang="en-US" dirty="0" err="1"/>
              <a:t>MoHUA</a:t>
            </a:r>
            <a:r>
              <a:rPr lang="en-US" dirty="0"/>
              <a:t>) reports on urban governance.</a:t>
            </a:r>
            <a:r>
              <a:rPr lang="en-IN" dirty="0"/>
              <a:t> Smart Cities Mission guidelines for digital civic solutions.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40091C-8986-8B20-9DF1-5DCC4A12A004}"/>
              </a:ext>
            </a:extLst>
          </p:cNvPr>
          <p:cNvSpPr txBox="1"/>
          <p:nvPr/>
        </p:nvSpPr>
        <p:spPr>
          <a:xfrm>
            <a:off x="609597" y="4100430"/>
            <a:ext cx="4536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Academic and Industry Research 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/>
              <a:t>Case studies on </a:t>
            </a:r>
            <a:r>
              <a:rPr lang="en-US" b="1" dirty="0"/>
              <a:t>crowdsourced governance and participatory urban management</a:t>
            </a:r>
            <a:r>
              <a:rPr lang="en-US" dirty="0"/>
              <a:t>. Research papers on </a:t>
            </a:r>
            <a:r>
              <a:rPr lang="en-US" b="1" dirty="0"/>
              <a:t>AI/ML in issue categorization and routing</a:t>
            </a:r>
            <a:r>
              <a:rPr lang="en-US" dirty="0"/>
              <a:t>.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305209-2167-9DE3-9C4F-B9BD688DC25C}"/>
              </a:ext>
            </a:extLst>
          </p:cNvPr>
          <p:cNvSpPr txBox="1"/>
          <p:nvPr/>
        </p:nvSpPr>
        <p:spPr>
          <a:xfrm>
            <a:off x="6627499" y="4112776"/>
            <a:ext cx="43184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Technical References :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/>
              <a:t>Documentation for React Native, Node.js, PostgreSQL, and AWS/GCP services. Open-source projects for civic engagement and complaint management systems.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9A7C4F54-0EB9-14EE-A2F1-55D0C912BF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/>
              <a:t>IDEA </a:t>
            </a:r>
          </a:p>
          <a:p>
            <a:pPr algn="ctr"/>
            <a:r>
              <a:rPr lang="en-US" sz="1200" b="1"/>
              <a:t>TROOPERS</a:t>
            </a:r>
            <a:endParaRPr lang="en-IN" sz="1200" b="1"/>
          </a:p>
        </p:txBody>
      </p:sp>
    </p:spTree>
    <p:extLst>
      <p:ext uri="{BB962C8B-B14F-4D97-AF65-F5344CB8AC3E}">
        <p14:creationId xmlns:p14="http://schemas.microsoft.com/office/powerpoint/2010/main" val="264046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0bfe6d5-1c4b-431c-a44b-9ea4bfa711c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F8D7F6E4E2D7448B3A8192F796A48E" ma:contentTypeVersion="9" ma:contentTypeDescription="Create a new document." ma:contentTypeScope="" ma:versionID="84bb51b81f0a0d668c37bb3158528085">
  <xsd:schema xmlns:xsd="http://www.w3.org/2001/XMLSchema" xmlns:xs="http://www.w3.org/2001/XMLSchema" xmlns:p="http://schemas.microsoft.com/office/2006/metadata/properties" xmlns:ns3="90bfe6d5-1c4b-431c-a44b-9ea4bfa711c4" xmlns:ns4="5e766e1a-81a6-4d7c-bee3-d1ec6597ea5a" targetNamespace="http://schemas.microsoft.com/office/2006/metadata/properties" ma:root="true" ma:fieldsID="5f750e4752de29bde0da48385209ff98" ns3:_="" ns4:_="">
    <xsd:import namespace="90bfe6d5-1c4b-431c-a44b-9ea4bfa711c4"/>
    <xsd:import namespace="5e766e1a-81a6-4d7c-bee3-d1ec6597ea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fe6d5-1c4b-431c-a44b-9ea4bfa711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66e1a-81a6-4d7c-bee3-d1ec6597ea5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23908B-0458-4995-B5CE-6FD9DD1E1D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1666C5-EF4A-4FFA-B948-EFEBDA745582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5e766e1a-81a6-4d7c-bee3-d1ec6597ea5a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infopath/2007/PartnerControls"/>
    <ds:schemaRef ds:uri="90bfe6d5-1c4b-431c-a44b-9ea4bfa711c4"/>
  </ds:schemaRefs>
</ds:datastoreItem>
</file>

<file path=customXml/itemProps3.xml><?xml version="1.0" encoding="utf-8"?>
<ds:datastoreItem xmlns:ds="http://schemas.openxmlformats.org/officeDocument/2006/customXml" ds:itemID="{9BBD96A9-13B1-4156-9EC5-D67C1F7C8D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fe6d5-1c4b-431c-a44b-9ea4bfa711c4"/>
    <ds:schemaRef ds:uri="5e766e1a-81a6-4d7c-bee3-d1ec6597e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7630</TotalTime>
  <Words>741</Words>
  <Application>Microsoft Office PowerPoint</Application>
  <PresentationFormat>Widescreen</PresentationFormat>
  <Paragraphs>77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 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aryan kumar gupta</cp:lastModifiedBy>
  <cp:revision>175</cp:revision>
  <dcterms:created xsi:type="dcterms:W3CDTF">2013-12-12T18:46:50Z</dcterms:created>
  <dcterms:modified xsi:type="dcterms:W3CDTF">2025-09-02T17:44:04Z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0x010100D3F8D7F6E4E2D7448B3A8192F796A48E</vt:lpwstr>
  </property>
</Properties>
</file>